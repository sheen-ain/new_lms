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19E7-A800-FA88-4316-396A9DA87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E7A37-3FFF-9B94-7968-58D37452E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B586E-9E01-A5E2-2841-75C6CDEC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2038F-8C31-76AA-736A-9231AA1B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A1B9D-7480-FD26-5739-4779EDAB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0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1487-4699-D6A8-82DD-9F1FCB52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508E6-11B4-956E-16D4-6B12D4B48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ACC27-CE64-04BB-B965-81DD8FBC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C01A9-229F-26E1-94E8-4CE9CB14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5958-D54F-6443-AC50-27A64E61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5AD0-E05D-C5A9-CCA3-E6CA7A1A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B01DE-7C28-CAF6-DA78-25B4E74BF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30742-7E81-2A77-2F4A-8060F918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FBD2E-4B90-736F-42D5-A8D82461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C6AE2-B94F-F2D7-6AD6-322498DE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7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2C10-95E5-9D6C-C6FA-FEE87558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3AEB-9CA8-9710-A46F-6FB17822B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FB15A-5B94-3510-86EE-62BCCFFD8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09147-7519-9DD0-0D42-CD773BAD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7CA02-10A0-814A-371E-141A7CBD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FFB87-900B-17C8-488E-DA56F97B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0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B20-5C1D-1B9C-84A4-AE850E98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4AF27-85AF-E044-8D85-A5757E5EC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6F19D-221B-6144-966D-9E2DA59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BEE7B-C4E2-79DF-09BE-37A5979FE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229FE-611A-4A2E-15CF-CE9E75129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300EA-DD92-7E24-9285-3262E3E8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04F58-10DA-904E-2E24-D9785279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011C-19F5-AB93-ABD0-25E9E50B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8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307A-03C8-8E56-0F6E-FEA90FD1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30FA5-2BC1-0AD6-DC97-78BED1E6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B6783-79E0-461B-AA5E-54041070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8225C-B1FA-B5CA-895B-E80D6C18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6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83D5E-C87A-932A-057B-B7383758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50A14-57B2-C99E-DCD5-A739EF72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F1E25-2CAD-0F10-BA06-5B62354C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A6F4-77CF-261C-11D8-5E37F277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05DE-D334-99C8-C505-F044BD8F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EE06A-1F8F-959D-1A3B-85F72B6BE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A39DA-B81A-57A4-97C4-73DAECC9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220EE-1C79-4DB1-D5CA-B700694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5E1B8-18CC-F9A9-BCBF-A7F8C130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1A29-8261-30A2-5A72-490AB6E8F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E6AD6-210F-1626-6F0F-4A51E5BA1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2012E-A2A4-FEAC-AA38-DEFAD6BDD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C893D-91EC-7DFE-3322-42059C1D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A4694-1108-63B0-E6F4-4C4A32D8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270CF-48B6-FC55-19D5-500A91DE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7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7222-9E67-2A4A-AC27-EA059285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1F03A-B1D4-5698-48AD-75CF29050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656A-0C5D-5643-AEED-B4DAFD23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FD2E6-BCD6-1156-B484-96F3702C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730A5-7459-FFA4-BA5E-C156581D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9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6899B8-7E54-E6DA-0CF2-8E1AB4651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A7B4A-12C0-8B26-580A-F1DAC40D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8463B-7676-D112-9F57-36D2E263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88D7-CB57-AE03-678F-0E1E13F9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45B9B-4C5D-9101-E589-964D34C7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1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E9DFC-9ADF-4AE7-DA9E-D7AD71E7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8BEA-3CF8-C599-7C87-6AE446AAA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5A3F0-0D0C-BF2D-320A-28835C155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43481-9D13-4E7F-900C-DE66289C50F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930D6-18BC-2268-C206-B78350D66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AE051-B2D2-B8E9-7573-D9EC7797F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B7F64-19AD-4F06-A0D6-BBB57B1D9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7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list" TargetMode="External"/><Relationship Id="rId2" Type="http://schemas.openxmlformats.org/officeDocument/2006/relationships/hyperlink" Target="https://www.programiz.com/python-programming/str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python-programming/dictionary" TargetMode="External"/><Relationship Id="rId5" Type="http://schemas.openxmlformats.org/officeDocument/2006/relationships/hyperlink" Target="https://www.programiz.com/python-programming/set" TargetMode="External"/><Relationship Id="rId4" Type="http://schemas.openxmlformats.org/officeDocument/2006/relationships/hyperlink" Target="https://www.programiz.com/python-programming/tupl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BE93B0-F61A-A0BD-56B2-251DDC9160A5}"/>
              </a:ext>
            </a:extLst>
          </p:cNvPr>
          <p:cNvSpPr txBox="1"/>
          <p:nvPr/>
        </p:nvSpPr>
        <p:spPr>
          <a:xfrm>
            <a:off x="1270781" y="1194641"/>
            <a:ext cx="96504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400" b="1" dirty="0"/>
              <a:t>Types of Python Operators</a:t>
            </a:r>
          </a:p>
          <a:p>
            <a:pPr algn="l">
              <a:buFont typeface="+mj-lt"/>
              <a:buAutoNum type="arabicPeriod"/>
            </a:pPr>
            <a:r>
              <a:rPr lang="en-US" sz="3600" dirty="0"/>
              <a:t>Arithmetic Operators</a:t>
            </a:r>
          </a:p>
          <a:p>
            <a:pPr algn="l">
              <a:buFont typeface="+mj-lt"/>
              <a:buAutoNum type="arabicPeriod"/>
            </a:pPr>
            <a:r>
              <a:rPr lang="en-US" sz="3600" dirty="0"/>
              <a:t>Assignment Operators</a:t>
            </a:r>
          </a:p>
          <a:p>
            <a:pPr algn="l">
              <a:buFont typeface="+mj-lt"/>
              <a:buAutoNum type="arabicPeriod"/>
            </a:pPr>
            <a:r>
              <a:rPr lang="en-US" sz="3600" dirty="0"/>
              <a:t>Comparison Operators</a:t>
            </a:r>
          </a:p>
          <a:p>
            <a:pPr algn="l">
              <a:buFont typeface="+mj-lt"/>
              <a:buAutoNum type="arabicPeriod"/>
            </a:pPr>
            <a:r>
              <a:rPr lang="en-US" sz="3600" dirty="0"/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222952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01A8DD-09E1-354C-4A99-15FC58D13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2940"/>
              </p:ext>
            </p:extLst>
          </p:nvPr>
        </p:nvGraphicFramePr>
        <p:xfrm>
          <a:off x="1270783" y="2761432"/>
          <a:ext cx="9931791" cy="4023360"/>
        </p:xfrm>
        <a:graphic>
          <a:graphicData uri="http://schemas.openxmlformats.org/drawingml/2006/table">
            <a:tbl>
              <a:tblPr/>
              <a:tblGrid>
                <a:gridCol w="3310597">
                  <a:extLst>
                    <a:ext uri="{9D8B030D-6E8A-4147-A177-3AD203B41FA5}">
                      <a16:colId xmlns:a16="http://schemas.microsoft.com/office/drawing/2014/main" val="388893463"/>
                    </a:ext>
                  </a:extLst>
                </a:gridCol>
                <a:gridCol w="3310597">
                  <a:extLst>
                    <a:ext uri="{9D8B030D-6E8A-4147-A177-3AD203B41FA5}">
                      <a16:colId xmlns:a16="http://schemas.microsoft.com/office/drawing/2014/main" val="2882111777"/>
                    </a:ext>
                  </a:extLst>
                </a:gridCol>
                <a:gridCol w="3310597">
                  <a:extLst>
                    <a:ext uri="{9D8B030D-6E8A-4147-A177-3AD203B41FA5}">
                      <a16:colId xmlns:a16="http://schemas.microsoft.com/office/drawing/2014/main" val="3833068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Operation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99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+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Addition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5 + 2 = 7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48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Subtraction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4 - 2 = 2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81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*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Multiplication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 * 3 = 6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54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Division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 / 2 = 2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8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//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Floor Division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 // 3 = 3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4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Modulo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5 % 2 = 1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7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**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Power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 ** 2 = 16 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1689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5F4AC7-DA9D-8DBA-73C3-752F1BE9FC26}"/>
              </a:ext>
            </a:extLst>
          </p:cNvPr>
          <p:cNvSpPr txBox="1"/>
          <p:nvPr/>
        </p:nvSpPr>
        <p:spPr>
          <a:xfrm>
            <a:off x="1668193" y="1032829"/>
            <a:ext cx="83966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Arithmetic operators are used to perform mathematical operations like addition, subtraction, multiplication, etc. 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06F34-ED36-82BF-6E6E-F6582A0E0480}"/>
              </a:ext>
            </a:extLst>
          </p:cNvPr>
          <p:cNvSpPr txBox="1"/>
          <p:nvPr/>
        </p:nvSpPr>
        <p:spPr>
          <a:xfrm>
            <a:off x="1668193" y="385391"/>
            <a:ext cx="88556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400" b="1" dirty="0"/>
              <a:t>1. python Arithmetic Operators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997B7-34D3-F58C-1D19-D78EE352AF7F}"/>
              </a:ext>
            </a:extLst>
          </p:cNvPr>
          <p:cNvSpPr txBox="1"/>
          <p:nvPr/>
        </p:nvSpPr>
        <p:spPr>
          <a:xfrm>
            <a:off x="1668193" y="1901192"/>
            <a:ext cx="60983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/>
              <a:t>For example,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Int sub = 10 - 5 # 5</a:t>
            </a:r>
          </a:p>
        </p:txBody>
      </p:sp>
    </p:spTree>
    <p:extLst>
      <p:ext uri="{BB962C8B-B14F-4D97-AF65-F5344CB8AC3E}">
        <p14:creationId xmlns:p14="http://schemas.microsoft.com/office/powerpoint/2010/main" val="422801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45F1E-82DB-6ABC-33E3-38464622E915}"/>
              </a:ext>
            </a:extLst>
          </p:cNvPr>
          <p:cNvSpPr txBox="1"/>
          <p:nvPr/>
        </p:nvSpPr>
        <p:spPr>
          <a:xfrm>
            <a:off x="1459521" y="314737"/>
            <a:ext cx="7037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/>
              <a:t>2. Python Assignment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0C382-6BFB-3E3B-2394-3E081D8FB2E6}"/>
              </a:ext>
            </a:extLst>
          </p:cNvPr>
          <p:cNvSpPr txBox="1"/>
          <p:nvPr/>
        </p:nvSpPr>
        <p:spPr>
          <a:xfrm>
            <a:off x="1167618" y="1400127"/>
            <a:ext cx="9453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Assignment operators are used to assign values to variables. For example,</a:t>
            </a:r>
          </a:p>
          <a:p>
            <a:r>
              <a:rPr lang="en-US" sz="3600" dirty="0"/>
              <a:t>A=5</a:t>
            </a:r>
          </a:p>
        </p:txBody>
      </p:sp>
    </p:spTree>
    <p:extLst>
      <p:ext uri="{BB962C8B-B14F-4D97-AF65-F5344CB8AC3E}">
        <p14:creationId xmlns:p14="http://schemas.microsoft.com/office/powerpoint/2010/main" val="46523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BE26BB-399E-21D5-68B0-EBE58EABA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128459"/>
              </p:ext>
            </p:extLst>
          </p:nvPr>
        </p:nvGraphicFramePr>
        <p:xfrm>
          <a:off x="562707" y="253219"/>
          <a:ext cx="11000934" cy="6079858"/>
        </p:xfrm>
        <a:graphic>
          <a:graphicData uri="http://schemas.openxmlformats.org/drawingml/2006/table">
            <a:tbl>
              <a:tblPr/>
              <a:tblGrid>
                <a:gridCol w="3666978">
                  <a:extLst>
                    <a:ext uri="{9D8B030D-6E8A-4147-A177-3AD203B41FA5}">
                      <a16:colId xmlns:a16="http://schemas.microsoft.com/office/drawing/2014/main" val="2540957440"/>
                    </a:ext>
                  </a:extLst>
                </a:gridCol>
                <a:gridCol w="3666978">
                  <a:extLst>
                    <a:ext uri="{9D8B030D-6E8A-4147-A177-3AD203B41FA5}">
                      <a16:colId xmlns:a16="http://schemas.microsoft.com/office/drawing/2014/main" val="1944975123"/>
                    </a:ext>
                  </a:extLst>
                </a:gridCol>
                <a:gridCol w="3666978">
                  <a:extLst>
                    <a:ext uri="{9D8B030D-6E8A-4147-A177-3AD203B41FA5}">
                      <a16:colId xmlns:a16="http://schemas.microsoft.com/office/drawing/2014/main" val="1383417954"/>
                    </a:ext>
                  </a:extLst>
                </a:gridCol>
              </a:tblGrid>
              <a:tr h="501240"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Operator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Name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Example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639487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Assignment Operator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 = 7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826061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+=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Addition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</a:rPr>
                        <a:t>a += 1 # a = a + 1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16629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-=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Subtraction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</a:rPr>
                        <a:t>a -= 3 # a = a - 3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159063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*=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Multiplication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</a:rPr>
                        <a:t>a *= 4 # a = a * 4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15078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/=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Division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</a:rPr>
                        <a:t>a /= 3 # a = a / 3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29903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%=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Remainder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</a:rPr>
                        <a:t>a %= 10 # a = a % 10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83356"/>
                  </a:ext>
                </a:extLst>
              </a:tr>
              <a:tr h="774643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**=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Exponent Assignment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effectLst/>
                        </a:rPr>
                        <a:t>a **= 10 # a = a ** 10</a:t>
                      </a:r>
                    </a:p>
                  </a:txBody>
                  <a:tcPr marL="167359" marR="167359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015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09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6473B8-3611-A5C4-9A04-05A7F95BFEE9}"/>
              </a:ext>
            </a:extLst>
          </p:cNvPr>
          <p:cNvSpPr txBox="1"/>
          <p:nvPr/>
        </p:nvSpPr>
        <p:spPr>
          <a:xfrm>
            <a:off x="1051559" y="174059"/>
            <a:ext cx="7853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3. Python Comparison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323BDA-9B0E-96D7-459F-323E6C56D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92" y="820390"/>
            <a:ext cx="1088839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Comparison operators compare two values/variables and return a </a:t>
            </a:r>
            <a:r>
              <a:rPr lang="en-US" altLang="en-US" sz="2000" dirty="0" err="1"/>
              <a:t>boolean</a:t>
            </a:r>
            <a:r>
              <a:rPr lang="en-US" altLang="en-US" sz="2000" dirty="0"/>
              <a:t> result: </a:t>
            </a:r>
            <a:r>
              <a:rPr lang="en-US" altLang="en-US" sz="2000" b="1" dirty="0"/>
              <a:t>True or False. </a:t>
            </a:r>
            <a:r>
              <a:rPr lang="en-US" altLang="en-US" sz="2000" dirty="0"/>
              <a:t>For example,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a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b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print (a &gt; b)    # True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8E48CE-2D33-9471-5E32-7FB27B7DA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92" y="1568548"/>
            <a:ext cx="6783388" cy="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A2A05E-6D37-92EA-970F-489DBE7B2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216247"/>
              </p:ext>
            </p:extLst>
          </p:nvPr>
        </p:nvGraphicFramePr>
        <p:xfrm>
          <a:off x="351692" y="2697480"/>
          <a:ext cx="11226018" cy="4160520"/>
        </p:xfrm>
        <a:graphic>
          <a:graphicData uri="http://schemas.openxmlformats.org/drawingml/2006/table">
            <a:tbl>
              <a:tblPr/>
              <a:tblGrid>
                <a:gridCol w="3742006">
                  <a:extLst>
                    <a:ext uri="{9D8B030D-6E8A-4147-A177-3AD203B41FA5}">
                      <a16:colId xmlns:a16="http://schemas.microsoft.com/office/drawing/2014/main" val="3005993362"/>
                    </a:ext>
                  </a:extLst>
                </a:gridCol>
                <a:gridCol w="3742006">
                  <a:extLst>
                    <a:ext uri="{9D8B030D-6E8A-4147-A177-3AD203B41FA5}">
                      <a16:colId xmlns:a16="http://schemas.microsoft.com/office/drawing/2014/main" val="3417602637"/>
                    </a:ext>
                  </a:extLst>
                </a:gridCol>
                <a:gridCol w="3742006">
                  <a:extLst>
                    <a:ext uri="{9D8B030D-6E8A-4147-A177-3AD203B41FA5}">
                      <a16:colId xmlns:a16="http://schemas.microsoft.com/office/drawing/2014/main" val="1813743379"/>
                    </a:ext>
                  </a:extLst>
                </a:gridCol>
              </a:tblGrid>
              <a:tr h="481142"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895497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==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Is Equal To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3 == 5 gives us False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536899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!=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Not Equal To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3 != 5 gives us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2763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&gt;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Greater Than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3 &gt; 5 gives us False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860378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&lt;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Less Than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 &lt; 5 gives us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746047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&gt;=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Greater Than or Equal To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3 &gt;= 5 give us False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021691"/>
                  </a:ext>
                </a:extLst>
              </a:tr>
              <a:tr h="481142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&lt;=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Less Than or Equal To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 &lt;= 5 gives us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9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48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5897BE-1F51-8113-0B8D-A006FB5FC383}"/>
              </a:ext>
            </a:extLst>
          </p:cNvPr>
          <p:cNvSpPr txBox="1"/>
          <p:nvPr/>
        </p:nvSpPr>
        <p:spPr>
          <a:xfrm>
            <a:off x="5575496" y="151179"/>
            <a:ext cx="470798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= 5</a:t>
            </a:r>
          </a:p>
          <a:p>
            <a:endParaRPr lang="en-US" sz="2000" dirty="0"/>
          </a:p>
          <a:p>
            <a:r>
              <a:rPr lang="en-US" sz="2000" dirty="0"/>
              <a:t>b = 2</a:t>
            </a:r>
          </a:p>
          <a:p>
            <a:endParaRPr lang="en-US" sz="2000" dirty="0"/>
          </a:p>
          <a:p>
            <a:r>
              <a:rPr lang="en-US" sz="2000" dirty="0"/>
              <a:t># equal to operator</a:t>
            </a:r>
          </a:p>
          <a:p>
            <a:r>
              <a:rPr lang="en-US" sz="2000" dirty="0"/>
              <a:t>print('a == b =', a == b)</a:t>
            </a:r>
          </a:p>
          <a:p>
            <a:endParaRPr lang="en-US" sz="2000" dirty="0"/>
          </a:p>
          <a:p>
            <a:r>
              <a:rPr lang="en-US" sz="2000" dirty="0"/>
              <a:t># not equal to operator</a:t>
            </a:r>
          </a:p>
          <a:p>
            <a:r>
              <a:rPr lang="en-US" sz="2000" dirty="0"/>
              <a:t>print('a != b =', a != b)</a:t>
            </a:r>
          </a:p>
          <a:p>
            <a:endParaRPr lang="en-US" sz="2000" dirty="0"/>
          </a:p>
          <a:p>
            <a:r>
              <a:rPr lang="en-US" sz="2000" dirty="0"/>
              <a:t># greater than operator</a:t>
            </a:r>
          </a:p>
          <a:p>
            <a:r>
              <a:rPr lang="en-US" sz="2000" dirty="0"/>
              <a:t>print('a &gt; b =', a &gt; b)</a:t>
            </a:r>
          </a:p>
          <a:p>
            <a:endParaRPr lang="en-US" sz="2000" dirty="0"/>
          </a:p>
          <a:p>
            <a:r>
              <a:rPr lang="en-US" sz="2000" dirty="0"/>
              <a:t># less than operator</a:t>
            </a:r>
          </a:p>
          <a:p>
            <a:r>
              <a:rPr lang="en-US" sz="2000" dirty="0"/>
              <a:t>print('a &lt; b =', a &lt; b)</a:t>
            </a:r>
          </a:p>
          <a:p>
            <a:endParaRPr lang="en-US" sz="2000" dirty="0"/>
          </a:p>
          <a:p>
            <a:r>
              <a:rPr lang="en-US" sz="2000" dirty="0"/>
              <a:t># greater than or equal to operator</a:t>
            </a:r>
          </a:p>
          <a:p>
            <a:r>
              <a:rPr lang="en-US" sz="2000" dirty="0"/>
              <a:t>print('a &gt;= b =', a &gt;= b)</a:t>
            </a:r>
          </a:p>
          <a:p>
            <a:endParaRPr lang="en-US" sz="2000" dirty="0"/>
          </a:p>
          <a:p>
            <a:r>
              <a:rPr lang="en-US" sz="2000" dirty="0"/>
              <a:t># less than or equal to operator</a:t>
            </a:r>
          </a:p>
          <a:p>
            <a:r>
              <a:rPr lang="en-US" sz="2000" dirty="0"/>
              <a:t>print('a &lt;= b =', a &lt;= 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8641B-0B37-2EAA-4D39-9E66DFB116BE}"/>
              </a:ext>
            </a:extLst>
          </p:cNvPr>
          <p:cNvSpPr txBox="1"/>
          <p:nvPr/>
        </p:nvSpPr>
        <p:spPr>
          <a:xfrm>
            <a:off x="886265" y="3059627"/>
            <a:ext cx="39952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Example of Comparison Operators</a:t>
            </a:r>
          </a:p>
        </p:txBody>
      </p:sp>
    </p:spTree>
    <p:extLst>
      <p:ext uri="{BB962C8B-B14F-4D97-AF65-F5344CB8AC3E}">
        <p14:creationId xmlns:p14="http://schemas.microsoft.com/office/powerpoint/2010/main" val="125518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949C29-E1C1-5886-E5B4-0467F0ACA96C}"/>
              </a:ext>
            </a:extLst>
          </p:cNvPr>
          <p:cNvSpPr txBox="1"/>
          <p:nvPr/>
        </p:nvSpPr>
        <p:spPr>
          <a:xfrm>
            <a:off x="2556803" y="11779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/>
              <a:t>4. Python Logical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C5DD0F-E325-8E72-5CB7-CC48309D8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1" y="987524"/>
            <a:ext cx="952382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Logical operators are used to check whether an expression is True or False. They are used in decision-making. For example,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3DA47C-2E8C-24D7-66CA-50F00FAD2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317" y="2257865"/>
            <a:ext cx="6783388" cy="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4FC74-1383-9924-80B8-1C76562E472D}"/>
              </a:ext>
            </a:extLst>
          </p:cNvPr>
          <p:cNvSpPr txBox="1"/>
          <p:nvPr/>
        </p:nvSpPr>
        <p:spPr>
          <a:xfrm>
            <a:off x="1374361" y="2257865"/>
            <a:ext cx="7887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a = 5</a:t>
            </a:r>
          </a:p>
          <a:p>
            <a:r>
              <a:rPr lang="en-US" sz="3200" dirty="0"/>
              <a:t> b = 6</a:t>
            </a:r>
          </a:p>
          <a:p>
            <a:r>
              <a:rPr lang="en-US" sz="3200" dirty="0"/>
              <a:t>print((a &gt; 2) and (b &gt;= 6))    # True</a:t>
            </a:r>
          </a:p>
        </p:txBody>
      </p:sp>
    </p:spTree>
    <p:extLst>
      <p:ext uri="{BB962C8B-B14F-4D97-AF65-F5344CB8AC3E}">
        <p14:creationId xmlns:p14="http://schemas.microsoft.com/office/powerpoint/2010/main" val="116525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3FE0CB-30F1-EA4E-B14F-669276ABE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396825"/>
              </p:ext>
            </p:extLst>
          </p:nvPr>
        </p:nvGraphicFramePr>
        <p:xfrm>
          <a:off x="708073" y="1025977"/>
          <a:ext cx="10775853" cy="4572000"/>
        </p:xfrm>
        <a:graphic>
          <a:graphicData uri="http://schemas.openxmlformats.org/drawingml/2006/table">
            <a:tbl>
              <a:tblPr/>
              <a:tblGrid>
                <a:gridCol w="3591951">
                  <a:extLst>
                    <a:ext uri="{9D8B030D-6E8A-4147-A177-3AD203B41FA5}">
                      <a16:colId xmlns:a16="http://schemas.microsoft.com/office/drawing/2014/main" val="1440053787"/>
                    </a:ext>
                  </a:extLst>
                </a:gridCol>
                <a:gridCol w="3591951">
                  <a:extLst>
                    <a:ext uri="{9D8B030D-6E8A-4147-A177-3AD203B41FA5}">
                      <a16:colId xmlns:a16="http://schemas.microsoft.com/office/drawing/2014/main" val="775306795"/>
                    </a:ext>
                  </a:extLst>
                </a:gridCol>
                <a:gridCol w="3591951">
                  <a:extLst>
                    <a:ext uri="{9D8B030D-6E8A-4147-A177-3AD203B41FA5}">
                      <a16:colId xmlns:a16="http://schemas.microsoft.com/office/drawing/2014/main" val="1211497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909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and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 </a:t>
                      </a:r>
                      <a:r>
                        <a:rPr lang="en-US" sz="2400" b="1">
                          <a:effectLst/>
                        </a:rPr>
                        <a:t>and</a:t>
                      </a:r>
                      <a:r>
                        <a:rPr lang="en-US" sz="2400">
                          <a:effectLst/>
                        </a:rPr>
                        <a:t> b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Logical AND</a:t>
                      </a:r>
                      <a:r>
                        <a:rPr lang="en-US" sz="2400">
                          <a:effectLst/>
                        </a:rPr>
                        <a:t>: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True only if both the operands are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35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 </a:t>
                      </a:r>
                      <a:r>
                        <a:rPr lang="en-US" sz="2400" b="1">
                          <a:effectLst/>
                        </a:rPr>
                        <a:t>or</a:t>
                      </a:r>
                      <a:r>
                        <a:rPr lang="en-US" sz="2400">
                          <a:effectLst/>
                        </a:rPr>
                        <a:t> b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Logical OR</a:t>
                      </a:r>
                      <a:r>
                        <a:rPr lang="en-US" sz="2400">
                          <a:effectLst/>
                        </a:rPr>
                        <a:t>: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True if at least one of the operands is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9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not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not</a:t>
                      </a:r>
                      <a:r>
                        <a:rPr lang="en-US" sz="2400">
                          <a:effectLst/>
                        </a:rPr>
                        <a:t> a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</a:rPr>
                        <a:t>Logical NOT</a:t>
                      </a:r>
                      <a:r>
                        <a:rPr lang="en-US" sz="2400" dirty="0">
                          <a:effectLst/>
                        </a:rPr>
                        <a:t>:</a:t>
                      </a:r>
                      <a:br>
                        <a:rPr lang="en-US" sz="2400" dirty="0">
                          <a:effectLst/>
                        </a:rPr>
                      </a:br>
                      <a:r>
                        <a:rPr lang="en-US" sz="2400" dirty="0">
                          <a:effectLst/>
                        </a:rPr>
                        <a:t>True if the operand is False and vice-versa.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4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81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8D143C-7040-EFC6-591D-AD6FDE3AEA3F}"/>
              </a:ext>
            </a:extLst>
          </p:cNvPr>
          <p:cNvSpPr txBox="1"/>
          <p:nvPr/>
        </p:nvSpPr>
        <p:spPr>
          <a:xfrm>
            <a:off x="2658794" y="1063678"/>
            <a:ext cx="64711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# logical AND</a:t>
            </a:r>
          </a:p>
          <a:p>
            <a:r>
              <a:rPr lang="en-US" sz="3200" dirty="0"/>
              <a:t>print(True and True)     # True</a:t>
            </a:r>
          </a:p>
          <a:p>
            <a:r>
              <a:rPr lang="en-US" sz="3200" dirty="0"/>
              <a:t>print(True and False)    # False</a:t>
            </a:r>
          </a:p>
          <a:p>
            <a:endParaRPr lang="en-US" sz="3200" dirty="0"/>
          </a:p>
          <a:p>
            <a:r>
              <a:rPr lang="en-US" sz="3200" dirty="0"/>
              <a:t># logical OR</a:t>
            </a:r>
          </a:p>
          <a:p>
            <a:r>
              <a:rPr lang="en-US" sz="3200" dirty="0"/>
              <a:t>print(True or False)     # True</a:t>
            </a:r>
          </a:p>
          <a:p>
            <a:endParaRPr lang="en-US" sz="3200" dirty="0"/>
          </a:p>
          <a:p>
            <a:r>
              <a:rPr lang="en-US" sz="3200" dirty="0"/>
              <a:t># logical NOT</a:t>
            </a:r>
          </a:p>
          <a:p>
            <a:r>
              <a:rPr lang="en-US" sz="3200" dirty="0"/>
              <a:t>print(not True)          # False</a:t>
            </a:r>
          </a:p>
        </p:txBody>
      </p:sp>
    </p:spTree>
    <p:extLst>
      <p:ext uri="{BB962C8B-B14F-4D97-AF65-F5344CB8AC3E}">
        <p14:creationId xmlns:p14="http://schemas.microsoft.com/office/powerpoint/2010/main" val="258568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20EAD-2613-27FF-F931-EFB0391B4BF1}"/>
              </a:ext>
            </a:extLst>
          </p:cNvPr>
          <p:cNvSpPr txBox="1"/>
          <p:nvPr/>
        </p:nvSpPr>
        <p:spPr>
          <a:xfrm>
            <a:off x="3046828" y="342873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/>
              <a:t>Python Special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841D68-F102-36C4-62C8-370BC18D8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90" y="975316"/>
            <a:ext cx="10822820" cy="2954655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Python language offers some special types of operators like the identity operator and the membership operator. They are described below with examples.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Identity 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In Python, </a:t>
            </a:r>
            <a:r>
              <a:rPr lang="en-US" altLang="en-US" sz="2400" b="1" dirty="0"/>
              <a:t>is and is not </a:t>
            </a:r>
            <a:r>
              <a:rPr lang="en-US" altLang="en-US" sz="2400" dirty="0"/>
              <a:t>are used to check if two values are located at the same memory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It's important to note that having two variables with equal values doesn't necessarily mean they are identical.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17A445-D560-A497-21A7-21AE61E71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548547"/>
              </p:ext>
            </p:extLst>
          </p:nvPr>
        </p:nvGraphicFramePr>
        <p:xfrm>
          <a:off x="684589" y="4232786"/>
          <a:ext cx="10822821" cy="2606040"/>
        </p:xfrm>
        <a:graphic>
          <a:graphicData uri="http://schemas.openxmlformats.org/drawingml/2006/table">
            <a:tbl>
              <a:tblPr/>
              <a:tblGrid>
                <a:gridCol w="3607607">
                  <a:extLst>
                    <a:ext uri="{9D8B030D-6E8A-4147-A177-3AD203B41FA5}">
                      <a16:colId xmlns:a16="http://schemas.microsoft.com/office/drawing/2014/main" val="3605038731"/>
                    </a:ext>
                  </a:extLst>
                </a:gridCol>
                <a:gridCol w="3607607">
                  <a:extLst>
                    <a:ext uri="{9D8B030D-6E8A-4147-A177-3AD203B41FA5}">
                      <a16:colId xmlns:a16="http://schemas.microsoft.com/office/drawing/2014/main" val="2684815696"/>
                    </a:ext>
                  </a:extLst>
                </a:gridCol>
                <a:gridCol w="3607607">
                  <a:extLst>
                    <a:ext uri="{9D8B030D-6E8A-4147-A177-3AD203B41FA5}">
                      <a16:colId xmlns:a16="http://schemas.microsoft.com/office/drawing/2014/main" val="1358604975"/>
                    </a:ext>
                  </a:extLst>
                </a:gridCol>
              </a:tblGrid>
              <a:tr h="475346"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12711"/>
                  </a:ext>
                </a:extLst>
              </a:tr>
              <a:tr h="99390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is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True if the operands are identical (refer to the same object)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x is True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58655"/>
                  </a:ext>
                </a:extLst>
              </a:tr>
              <a:tr h="99390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is not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True if the operands are not identical (do not refer to the same object)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x is not 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32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575F69-289E-CCA4-20DB-F0A8AFCEA671}"/>
              </a:ext>
            </a:extLst>
          </p:cNvPr>
          <p:cNvSpPr txBox="1"/>
          <p:nvPr/>
        </p:nvSpPr>
        <p:spPr>
          <a:xfrm>
            <a:off x="1800664" y="465298"/>
            <a:ext cx="72307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x1 = 5</a:t>
            </a:r>
          </a:p>
          <a:p>
            <a:r>
              <a:rPr lang="en-US" dirty="0"/>
              <a:t>y1 = 5</a:t>
            </a:r>
          </a:p>
          <a:p>
            <a:r>
              <a:rPr lang="en-US" dirty="0"/>
              <a:t>x2 = 'Hello'</a:t>
            </a:r>
          </a:p>
          <a:p>
            <a:r>
              <a:rPr lang="en-US" dirty="0"/>
              <a:t>y2 = 'Hello'</a:t>
            </a:r>
          </a:p>
          <a:p>
            <a:r>
              <a:rPr lang="en-US" dirty="0"/>
              <a:t>x3 = [1,2,3]</a:t>
            </a:r>
          </a:p>
          <a:p>
            <a:r>
              <a:rPr lang="en-US" dirty="0"/>
              <a:t>y3 = [1,2,3]</a:t>
            </a:r>
          </a:p>
          <a:p>
            <a:endParaRPr lang="en-US" dirty="0"/>
          </a:p>
          <a:p>
            <a:r>
              <a:rPr lang="en-US" dirty="0"/>
              <a:t>print(x1 is not y1)  # prints False</a:t>
            </a:r>
          </a:p>
          <a:p>
            <a:endParaRPr lang="en-US" dirty="0"/>
          </a:p>
          <a:p>
            <a:r>
              <a:rPr lang="en-US" dirty="0"/>
              <a:t>print(x2 is y2)  # prints True</a:t>
            </a:r>
          </a:p>
          <a:p>
            <a:endParaRPr lang="en-US" dirty="0"/>
          </a:p>
          <a:p>
            <a:r>
              <a:rPr lang="en-US" dirty="0"/>
              <a:t>print(x3 is y3)  # prints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0B975-2FEB-60B4-BB24-B4B2A4A06D7C}"/>
              </a:ext>
            </a:extLst>
          </p:cNvPr>
          <p:cNvSpPr txBox="1"/>
          <p:nvPr/>
        </p:nvSpPr>
        <p:spPr>
          <a:xfrm>
            <a:off x="490025" y="4247110"/>
            <a:ext cx="112119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Here, we see that x1 and y1 are integers of the same values, so they are equal as well as identical. The same is the case with x2 and y2 (strings).</a:t>
            </a:r>
          </a:p>
          <a:p>
            <a:pPr algn="l"/>
            <a:r>
              <a:rPr lang="en-US" sz="2800" dirty="0"/>
              <a:t>But x3 and y3 are lists. They are equal but not identical. It is because the interpreter locates them separately in memory, although they are equal.</a:t>
            </a:r>
          </a:p>
        </p:txBody>
      </p:sp>
    </p:spTree>
    <p:extLst>
      <p:ext uri="{BB962C8B-B14F-4D97-AF65-F5344CB8AC3E}">
        <p14:creationId xmlns:p14="http://schemas.microsoft.com/office/powerpoint/2010/main" val="2218859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6B628-9963-9335-AA81-F60F72156CAC}"/>
              </a:ext>
            </a:extLst>
          </p:cNvPr>
          <p:cNvSpPr txBox="1"/>
          <p:nvPr/>
        </p:nvSpPr>
        <p:spPr>
          <a:xfrm>
            <a:off x="3836962" y="16434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/>
              <a:t>Membership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0FA9B7-B6EE-010F-B186-0C03EE3E3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468" y="1146977"/>
            <a:ext cx="10058400" cy="1477328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In Python,</a:t>
            </a:r>
            <a:r>
              <a:rPr lang="en-US" altLang="en-US" sz="2400" b="1" dirty="0"/>
              <a:t> in and not in </a:t>
            </a:r>
            <a:r>
              <a:rPr lang="en-US" altLang="en-US" sz="2400" dirty="0"/>
              <a:t>are the membership operators. They are used to test whether a value or variable is found in a sequence (</a:t>
            </a:r>
            <a:r>
              <a:rPr lang="en-US" altLang="en-US" sz="2400" dirty="0">
                <a:hlinkClick r:id="rId2"/>
              </a:rPr>
              <a:t>string</a:t>
            </a:r>
            <a:r>
              <a:rPr lang="en-US" altLang="en-US" sz="2400" dirty="0"/>
              <a:t>, </a:t>
            </a:r>
            <a:r>
              <a:rPr lang="en-US" altLang="en-US" sz="2400" dirty="0">
                <a:hlinkClick r:id="rId3"/>
              </a:rPr>
              <a:t>list</a:t>
            </a:r>
            <a:r>
              <a:rPr lang="en-US" altLang="en-US" sz="2400" dirty="0"/>
              <a:t>, </a:t>
            </a:r>
            <a:r>
              <a:rPr lang="en-US" altLang="en-US" sz="2400" dirty="0">
                <a:hlinkClick r:id="rId4"/>
              </a:rPr>
              <a:t>tuple</a:t>
            </a:r>
            <a:r>
              <a:rPr lang="en-US" altLang="en-US" sz="2400" dirty="0"/>
              <a:t>, </a:t>
            </a:r>
            <a:r>
              <a:rPr lang="en-US" altLang="en-US" sz="2400" dirty="0">
                <a:hlinkClick r:id="rId5"/>
              </a:rPr>
              <a:t>set</a:t>
            </a:r>
            <a:r>
              <a:rPr lang="en-US" altLang="en-US" sz="2400" dirty="0"/>
              <a:t> and </a:t>
            </a:r>
            <a:r>
              <a:rPr lang="en-US" altLang="en-US" sz="2400" dirty="0">
                <a:hlinkClick r:id="rId6"/>
              </a:rPr>
              <a:t>dictionary</a:t>
            </a:r>
            <a:r>
              <a:rPr lang="en-US" altLang="en-US" sz="2400" dirty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In a dictionary, we can only test for the presence of a key, not the value.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46A4C6-36F9-2E2B-478A-AAFC8954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068482"/>
              </p:ext>
            </p:extLst>
          </p:nvPr>
        </p:nvGraphicFramePr>
        <p:xfrm>
          <a:off x="710126" y="3204996"/>
          <a:ext cx="10495083" cy="2880360"/>
        </p:xfrm>
        <a:graphic>
          <a:graphicData uri="http://schemas.openxmlformats.org/drawingml/2006/table">
            <a:tbl>
              <a:tblPr/>
              <a:tblGrid>
                <a:gridCol w="3498361">
                  <a:extLst>
                    <a:ext uri="{9D8B030D-6E8A-4147-A177-3AD203B41FA5}">
                      <a16:colId xmlns:a16="http://schemas.microsoft.com/office/drawing/2014/main" val="2053026740"/>
                    </a:ext>
                  </a:extLst>
                </a:gridCol>
                <a:gridCol w="3498361">
                  <a:extLst>
                    <a:ext uri="{9D8B030D-6E8A-4147-A177-3AD203B41FA5}">
                      <a16:colId xmlns:a16="http://schemas.microsoft.com/office/drawing/2014/main" val="3792817349"/>
                    </a:ext>
                  </a:extLst>
                </a:gridCol>
                <a:gridCol w="3498361">
                  <a:extLst>
                    <a:ext uri="{9D8B030D-6E8A-4147-A177-3AD203B41FA5}">
                      <a16:colId xmlns:a16="http://schemas.microsoft.com/office/drawing/2014/main" val="865228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49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True if value/variable is </a:t>
                      </a:r>
                      <a:r>
                        <a:rPr lang="en-US" sz="2400" b="1">
                          <a:effectLst/>
                        </a:rPr>
                        <a:t>found</a:t>
                      </a:r>
                      <a:r>
                        <a:rPr lang="en-US" sz="2400">
                          <a:effectLst/>
                        </a:rPr>
                        <a:t> in the sequence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5 in x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660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not in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True if value/variable is </a:t>
                      </a:r>
                      <a:r>
                        <a:rPr lang="en-US" sz="2400" b="1" dirty="0">
                          <a:effectLst/>
                        </a:rPr>
                        <a:t>not found</a:t>
                      </a:r>
                      <a:r>
                        <a:rPr lang="en-US" sz="2400" dirty="0">
                          <a:effectLst/>
                        </a:rPr>
                        <a:t> in the sequence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5 not in x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285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76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08F82-2E27-CBBC-A687-6EF6C0F3A2CA}"/>
              </a:ext>
            </a:extLst>
          </p:cNvPr>
          <p:cNvSpPr txBox="1"/>
          <p:nvPr/>
        </p:nvSpPr>
        <p:spPr>
          <a:xfrm>
            <a:off x="1782494" y="962022"/>
            <a:ext cx="86270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message = 'Hello world'</a:t>
            </a:r>
          </a:p>
          <a:p>
            <a:r>
              <a:rPr lang="en-US" sz="2400" dirty="0"/>
              <a:t>dict1 = {1:'a', 2:'b'}</a:t>
            </a:r>
          </a:p>
          <a:p>
            <a:endParaRPr lang="en-US" sz="2400" dirty="0"/>
          </a:p>
          <a:p>
            <a:r>
              <a:rPr lang="en-US" sz="2400" dirty="0"/>
              <a:t># check if 'H' is present in message string</a:t>
            </a:r>
          </a:p>
          <a:p>
            <a:r>
              <a:rPr lang="en-US" sz="2400" dirty="0"/>
              <a:t>print('H' in message)  # prints True</a:t>
            </a:r>
          </a:p>
          <a:p>
            <a:endParaRPr lang="en-US" sz="2400" dirty="0"/>
          </a:p>
          <a:p>
            <a:r>
              <a:rPr lang="en-US" sz="2400" dirty="0"/>
              <a:t># check if 'hello' is present in message string</a:t>
            </a:r>
          </a:p>
          <a:p>
            <a:r>
              <a:rPr lang="en-US" sz="2400" dirty="0"/>
              <a:t>print('hello' not in message)  # prints True</a:t>
            </a:r>
          </a:p>
          <a:p>
            <a:endParaRPr lang="en-US" sz="2400" dirty="0"/>
          </a:p>
          <a:p>
            <a:r>
              <a:rPr lang="en-US" sz="2400" dirty="0"/>
              <a:t># check if '1' key is present in dict1</a:t>
            </a:r>
          </a:p>
          <a:p>
            <a:r>
              <a:rPr lang="en-US" sz="2400" dirty="0"/>
              <a:t>print(1 in dict1)  # prints True</a:t>
            </a:r>
          </a:p>
          <a:p>
            <a:endParaRPr lang="en-US" sz="2400" dirty="0"/>
          </a:p>
          <a:p>
            <a:r>
              <a:rPr lang="en-US" sz="2400" dirty="0"/>
              <a:t># check if 'a' key is present in dict1</a:t>
            </a:r>
          </a:p>
          <a:p>
            <a:r>
              <a:rPr lang="en-US" sz="2400" dirty="0"/>
              <a:t>print('a' in dict1)  # prints False</a:t>
            </a:r>
          </a:p>
        </p:txBody>
      </p:sp>
    </p:spTree>
    <p:extLst>
      <p:ext uri="{BB962C8B-B14F-4D97-AF65-F5344CB8AC3E}">
        <p14:creationId xmlns:p14="http://schemas.microsoft.com/office/powerpoint/2010/main" val="382015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967</Words>
  <Application>Microsoft Office PowerPoint</Application>
  <PresentationFormat>Widescreen</PresentationFormat>
  <Paragraphs>191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euclid_circular_a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Ashfaque Ali</dc:creator>
  <cp:lastModifiedBy>Ashfaque Ali (2K21-IT-41)</cp:lastModifiedBy>
  <cp:revision>5</cp:revision>
  <dcterms:created xsi:type="dcterms:W3CDTF">2024-04-26T14:23:58Z</dcterms:created>
  <dcterms:modified xsi:type="dcterms:W3CDTF">2025-03-10T07:17:38Z</dcterms:modified>
</cp:coreProperties>
</file>